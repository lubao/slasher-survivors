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D4501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D450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FIRST CALL DECK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Slasher Survivors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割草遊戲 Demo + AWS Multi-Region Backend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GitHub: lubao/slasher-survivors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D450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 · 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 minimal horde-survival game built with PyGame, paired with a production-grade multi-region AWS backend. The backend handles score submission, leaderboard queries, achievement tracking, and game-over event logging — all with latency-optimized writes and global consistency.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0" y="137160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501E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PyGame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Game Client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24688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501E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0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356616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501E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0" y="4114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AWS Regions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Slasher Survivors  ·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D450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 ·  STRUCTURE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Monorepo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pic>
        <p:nvPicPr>
          <p:cNvPr id="5" name="Image 0" descr="icon_s3_0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game/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7432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PyGame client - minimal horde-survival game with local dev support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91840" y="146304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pic>
        <p:nvPicPr>
          <p:cNvPr id="9" name="Image 1" descr="icon_s3_1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6160" y="17373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6616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backend/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566160" y="27432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FastAPI + Uvicorn containerized API (scores, leaderboard, achievements)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26480" y="146304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pic>
        <p:nvPicPr>
          <p:cNvPr id="13" name="Image 2" descr="icon_s3_2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0800" y="17373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infra/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00800" y="27432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AWS CDK infrastructure-as-code (multi-region, Tasks 5-7)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Slasher Survivors  ·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D450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 ·  TECH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Technology Stack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Layer</a:t>
                      </a:r>
                      <a:endParaRPr lang="en-US" sz="11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Technology</a:t>
                      </a:r>
                      <a:endParaRPr lang="en-US" sz="11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Game</a:t>
                      </a:r>
                      <a:endParaRPr lang="en-US" sz="11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PyGame</a:t>
                      </a:r>
                      <a:endParaRPr lang="en-US" sz="11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Backend API</a:t>
                      </a:r>
                      <a:endParaRPr lang="en-US" sz="11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FastAPI + Uvicorn</a:t>
                      </a:r>
                      <a:endParaRPr lang="en-US" sz="11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Database</a:t>
                      </a:r>
                      <a:endParaRPr lang="en-US" sz="11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DynamoDB Global Tables</a:t>
                      </a:r>
                      <a:endParaRPr lang="en-US" sz="11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Compute</a:t>
                      </a:r>
                      <a:endParaRPr lang="en-US" sz="11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ECS/Fargate + ALB</a:t>
                      </a:r>
                      <a:endParaRPr lang="en-US" sz="11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Routing</a:t>
                      </a:r>
                      <a:endParaRPr lang="en-US" sz="11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Route 53 latency-based + health check failover</a:t>
                      </a:r>
                      <a:endParaRPr lang="en-US" sz="11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IaC</a:t>
                      </a:r>
                      <a:endParaRPr lang="en-US" sz="11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AWS CDK</a:t>
                      </a:r>
                      <a:endParaRPr lang="en-US" sz="11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Logging</a:t>
                      </a:r>
                      <a:endParaRPr lang="en-US" sz="11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CloudWatch Logs</a:t>
                      </a:r>
                      <a:endParaRPr lang="en-US" sz="11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Slasher Survivors  ·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99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 · 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AWS Multi-Region Architecture</a:t>
            </a:r>
            <a:endParaRPr lang="en-US" sz="2600" dirty="0"/>
          </a:p>
        </p:txBody>
      </p:sp>
      <p:pic>
        <p:nvPicPr>
          <p:cNvPr id="4" name="Image 0" descr="icon_player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320" y="20116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" y="2560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Players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14400" y="2286000"/>
            <a:ext cx="4572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arrow"/>
          </a:ln>
        </p:spPr>
      </p:sp>
      <p:pic>
        <p:nvPicPr>
          <p:cNvPr id="7" name="Image 1" descr="icon_route53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8760" y="196596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2514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Route 53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234440" y="269748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Latency Routing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2377440" y="2103120"/>
            <a:ext cx="640080" cy="-54864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  <a:tailEnd type="arrow"/>
          </a:ln>
        </p:spPr>
      </p:sp>
      <p:sp>
        <p:nvSpPr>
          <p:cNvPr id="11" name="Shape 7"/>
          <p:cNvSpPr/>
          <p:nvPr/>
        </p:nvSpPr>
        <p:spPr>
          <a:xfrm>
            <a:off x="2377440" y="2468880"/>
            <a:ext cx="640080" cy="64008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  <a:tailEnd type="arrow"/>
          </a:ln>
        </p:spPr>
      </p:sp>
      <p:sp>
        <p:nvSpPr>
          <p:cNvPr id="12" name="Shape 8"/>
          <p:cNvSpPr/>
          <p:nvPr/>
        </p:nvSpPr>
        <p:spPr>
          <a:xfrm>
            <a:off x="3108960" y="1097280"/>
            <a:ext cx="3108960" cy="1645920"/>
          </a:xfrm>
          <a:prstGeom prst="roundRect">
            <a:avLst>
              <a:gd name="adj" fmla="val 5556"/>
            </a:avLst>
          </a:prstGeom>
          <a:solidFill>
            <a:srgbClr val="1F2D3D"/>
          </a:solidFill>
          <a:ln w="15240">
            <a:solidFill>
              <a:srgbClr val="5599CC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3200400" y="11704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CC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us-west-1 (Primary)</a:t>
            </a:r>
            <a:endParaRPr lang="en-US" sz="900" dirty="0"/>
          </a:p>
        </p:txBody>
      </p:sp>
      <p:pic>
        <p:nvPicPr>
          <p:cNvPr id="14" name="Image 2" descr="icon_alb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83280" y="15544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91840" y="199339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ALB</a:t>
            </a:r>
            <a:endParaRPr lang="en-US" sz="700" dirty="0"/>
          </a:p>
        </p:txBody>
      </p:sp>
      <p:pic>
        <p:nvPicPr>
          <p:cNvPr id="16" name="Image 3" descr="icon_ecs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97680" y="155448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69080" y="199339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ECS Fargate</a:t>
            </a:r>
            <a:endParaRPr lang="en-US" sz="700" dirty="0"/>
          </a:p>
        </p:txBody>
      </p:sp>
      <p:sp>
        <p:nvSpPr>
          <p:cNvPr id="18" name="Shape 12"/>
          <p:cNvSpPr/>
          <p:nvPr/>
        </p:nvSpPr>
        <p:spPr>
          <a:xfrm>
            <a:off x="3840480" y="1755648"/>
            <a:ext cx="41148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  <a:tailEnd type="arrow"/>
          </a:ln>
        </p:spPr>
      </p:sp>
      <p:pic>
        <p:nvPicPr>
          <p:cNvPr id="19" name="Image 4" descr="icon_cloudwatch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12080" y="1554480"/>
            <a:ext cx="411480" cy="4114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029200" y="19933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CloudWatch</a:t>
            </a:r>
            <a:endParaRPr lang="en-US" sz="700" dirty="0"/>
          </a:p>
        </p:txBody>
      </p:sp>
      <p:sp>
        <p:nvSpPr>
          <p:cNvPr id="21" name="Shape 14"/>
          <p:cNvSpPr/>
          <p:nvPr/>
        </p:nvSpPr>
        <p:spPr>
          <a:xfrm>
            <a:off x="4754880" y="1755648"/>
            <a:ext cx="4114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dash"/>
            <a:tailEnd type="arrow"/>
          </a:ln>
        </p:spPr>
      </p:sp>
      <p:sp>
        <p:nvSpPr>
          <p:cNvPr id="22" name="Shape 15"/>
          <p:cNvSpPr/>
          <p:nvPr/>
        </p:nvSpPr>
        <p:spPr>
          <a:xfrm>
            <a:off x="3108960" y="3017520"/>
            <a:ext cx="3108960" cy="1645920"/>
          </a:xfrm>
          <a:prstGeom prst="roundRect">
            <a:avLst>
              <a:gd name="adj" fmla="val 5556"/>
            </a:avLst>
          </a:prstGeom>
          <a:solidFill>
            <a:srgbClr val="1F2D3D"/>
          </a:solidFill>
          <a:ln w="15240">
            <a:solidFill>
              <a:srgbClr val="5599CC"/>
            </a:solidFill>
            <a:prstDash val="dash"/>
          </a:ln>
        </p:spPr>
      </p:sp>
      <p:sp>
        <p:nvSpPr>
          <p:cNvPr id="23" name="Text 16"/>
          <p:cNvSpPr/>
          <p:nvPr/>
        </p:nvSpPr>
        <p:spPr>
          <a:xfrm>
            <a:off x="3200400" y="30906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CC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ap-east-2 (Taipei)</a:t>
            </a:r>
            <a:endParaRPr lang="en-US" sz="900" dirty="0"/>
          </a:p>
        </p:txBody>
      </p:sp>
      <p:pic>
        <p:nvPicPr>
          <p:cNvPr id="24" name="Image 5" descr="icon_alb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83280" y="3474720"/>
            <a:ext cx="411480" cy="4114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291840" y="391363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ALB</a:t>
            </a:r>
            <a:endParaRPr lang="en-US" sz="700" dirty="0"/>
          </a:p>
        </p:txBody>
      </p:sp>
      <p:pic>
        <p:nvPicPr>
          <p:cNvPr id="26" name="Image 6" descr="icon_ecs.sv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97680" y="3474720"/>
            <a:ext cx="411480" cy="4114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069080" y="391363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ECS Fargate</a:t>
            </a:r>
            <a:endParaRPr lang="en-US" sz="700" dirty="0"/>
          </a:p>
        </p:txBody>
      </p:sp>
      <p:sp>
        <p:nvSpPr>
          <p:cNvPr id="28" name="Shape 19"/>
          <p:cNvSpPr/>
          <p:nvPr/>
        </p:nvSpPr>
        <p:spPr>
          <a:xfrm>
            <a:off x="3840480" y="3675888"/>
            <a:ext cx="41148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  <a:tailEnd type="arrow"/>
          </a:ln>
        </p:spPr>
      </p:sp>
      <p:pic>
        <p:nvPicPr>
          <p:cNvPr id="29" name="Image 7" descr="icon_cloudwatch.sv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12080" y="3474720"/>
            <a:ext cx="411480" cy="4114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029200" y="391363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CloudWatch</a:t>
            </a:r>
            <a:endParaRPr lang="en-US" sz="700" dirty="0"/>
          </a:p>
        </p:txBody>
      </p:sp>
      <p:sp>
        <p:nvSpPr>
          <p:cNvPr id="31" name="Shape 21"/>
          <p:cNvSpPr/>
          <p:nvPr/>
        </p:nvSpPr>
        <p:spPr>
          <a:xfrm>
            <a:off x="4754880" y="3675888"/>
            <a:ext cx="4114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dash"/>
            <a:tailEnd type="arrow"/>
          </a:ln>
        </p:spPr>
      </p:sp>
      <p:sp>
        <p:nvSpPr>
          <p:cNvPr id="32" name="Shape 22"/>
          <p:cNvSpPr/>
          <p:nvPr/>
        </p:nvSpPr>
        <p:spPr>
          <a:xfrm>
            <a:off x="6675120" y="192024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1F2D3D"/>
          </a:solidFill>
          <a:ln w="19050">
            <a:solidFill>
              <a:srgbClr val="FF9900"/>
            </a:solidFill>
            <a:prstDash val="solid"/>
          </a:ln>
        </p:spPr>
      </p:sp>
      <p:pic>
        <p:nvPicPr>
          <p:cNvPr id="33" name="Image 8" descr="icon_dynamodb.sv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360920" y="2103120"/>
            <a:ext cx="548640" cy="54864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76656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DynamoDB</a:t>
            </a:r>
            <a:endParaRPr lang="en-US" sz="1100" dirty="0"/>
          </a:p>
        </p:txBody>
      </p:sp>
      <p:sp>
        <p:nvSpPr>
          <p:cNvPr id="35" name="Text 24"/>
          <p:cNvSpPr/>
          <p:nvPr/>
        </p:nvSpPr>
        <p:spPr>
          <a:xfrm>
            <a:off x="6766560" y="2926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Global Tables</a:t>
            </a:r>
            <a:endParaRPr lang="en-US" sz="1000" dirty="0"/>
          </a:p>
        </p:txBody>
      </p:sp>
      <p:sp>
        <p:nvSpPr>
          <p:cNvPr id="36" name="Text 25"/>
          <p:cNvSpPr/>
          <p:nvPr/>
        </p:nvSpPr>
        <p:spPr>
          <a:xfrm>
            <a:off x="676656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Cross-region replication</a:t>
            </a:r>
            <a:endParaRPr lang="en-US" sz="800" dirty="0"/>
          </a:p>
        </p:txBody>
      </p:sp>
      <p:sp>
        <p:nvSpPr>
          <p:cNvPr id="37" name="Text 26"/>
          <p:cNvSpPr/>
          <p:nvPr/>
        </p:nvSpPr>
        <p:spPr>
          <a:xfrm>
            <a:off x="7223760" y="3429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CCFF"/>
                </a:solidFill>
              </a:rPr>
              <a:t>⇄</a:t>
            </a:r>
            <a:endParaRPr lang="en-US" sz="1600" dirty="0"/>
          </a:p>
        </p:txBody>
      </p:sp>
      <p:sp>
        <p:nvSpPr>
          <p:cNvPr id="38" name="Shape 27"/>
          <p:cNvSpPr/>
          <p:nvPr/>
        </p:nvSpPr>
        <p:spPr>
          <a:xfrm>
            <a:off x="4754880" y="1755648"/>
            <a:ext cx="1828800" cy="105156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  <a:tailEnd type="arrow"/>
          </a:ln>
        </p:spPr>
      </p:sp>
      <p:sp>
        <p:nvSpPr>
          <p:cNvPr id="39" name="Shape 28"/>
          <p:cNvSpPr/>
          <p:nvPr/>
        </p:nvSpPr>
        <p:spPr>
          <a:xfrm>
            <a:off x="4754880" y="3675888"/>
            <a:ext cx="1828800" cy="-77724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  <a:tailEnd type="arrow"/>
          </a:ln>
        </p:spPr>
      </p:sp>
      <p:sp>
        <p:nvSpPr>
          <p:cNvPr id="40" name="Text 29"/>
          <p:cNvSpPr/>
          <p:nvPr/>
        </p:nvSpPr>
        <p:spPr>
          <a:xfrm>
            <a:off x="1280160" y="31089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CC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Health Check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8CC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Failover</a:t>
            </a:r>
            <a:endParaRPr lang="en-US" sz="700" dirty="0"/>
          </a:p>
        </p:txBody>
      </p:sp>
      <p:sp>
        <p:nvSpPr>
          <p:cNvPr id="41" name="Text 30"/>
          <p:cNvSpPr/>
          <p:nvPr/>
        </p:nvSpPr>
        <p:spPr>
          <a:xfrm>
            <a:off x="457200" y="46177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■ Networking    ■ Compute    ■ Database    ■ Monitoring</a:t>
            </a:r>
            <a:endParaRPr lang="en-US" sz="800" dirty="0"/>
          </a:p>
        </p:txBody>
      </p:sp>
      <p:sp>
        <p:nvSpPr>
          <p:cNvPr id="42" name="Text 3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Slasher Survivors  ·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D450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04a  ·  COMPUTE COMPARISON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API Gateway + Lambda vs ALB + Fargate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520440"/>
                <a:gridCol w="35204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Dimension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API GW + Lambda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ALB + Fargate ✅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Pricing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Per-request ($3.50/M) + duration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Per-hour (vCPU+mem), predictable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Cold Start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100-500ms (Python), affects UX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None - always warm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Concurrency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1000 default limit, burst limited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Scales with task count, no limit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Long-running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15 min max timeout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No timeout - persistent containers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Framework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Adapter needed (Mangum)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Native FastAPI/Uvicorn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Ops Overhead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Zero servers, fully managed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Container images, task defs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931920"/>
            <a:ext cx="84124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4501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50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Verdict: </a:t>
            </a:r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ALB + Fargate chosen for this project — game backend needs persistent connections, predictable latency (no cold start), and native FastAPI support. Lambda better for event-driven, sporadic workloads.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Slasher Survivors  ·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D450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04b  ·  DATABASE COMPARISON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Aurora / RDS MySQL vs DynamoDB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520440"/>
                <a:gridCol w="35204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Dimension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Aurora / RDS MySQL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DynamoDB ✅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Data Model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Relational (SQL), complex JOINs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Key-value / document, single-digit ms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Multi-Region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Aurora Global DB (1 writer, read replicas)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Global Tables (multi-master writes)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Scaling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Vertical (instance) + read replicas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Auto-scales horizontally, unlimited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Failover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~30s (Aurora), minutes (RDS)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Sub-second (Global Tables)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Cost Model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Instance hours + storage + IOPS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Pay-per-request or provisioned WCU/RCU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Query Flexibility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Full SQL, ad-hoc queries, JOINs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Limited to PK/SK + GSI patterns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Ops Overhead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Patching, backups, connection mgmt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Fully managed, zero maintenance</a:t>
                      </a:r>
                      <a:endParaRPr lang="en-US" sz="10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023360"/>
            <a:ext cx="84124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4501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50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Verdict: </a:t>
            </a:r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DynamoDB Global Tables chosen — game data (scores, achievements) is simple key-value access patterns with no JOINs needed. Multi-master writes enable true active-active multi-region. Aurora is better when relational queries or complex transactions are required.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Slasher Survivors  ·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D450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  ·  API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API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D450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POST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/scores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送出成績 + 計算成就並記錄 game-over log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55448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/leaderboard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全球前 N 名排行榜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20040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/achievements/{nickname}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玩家已解鎖成就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320040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/health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657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ALB 健康檢查 endpoint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Slasher Survivors  ·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D450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  ·  DR &amp; FAILOVER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Disaster Recovery &amp; Failover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63040" y="1463040"/>
            <a:ext cx="731520" cy="731520"/>
          </a:xfrm>
          <a:prstGeom prst="ellipse">
            <a:avLst/>
          </a:prstGeom>
          <a:solidFill>
            <a:srgbClr val="D450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Detect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Route 53 health check detects ALB unhealthy in primary region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828800"/>
            <a:ext cx="274320" cy="0"/>
          </a:xfrm>
          <a:prstGeom prst="line">
            <a:avLst/>
          </a:prstGeom>
          <a:noFill/>
          <a:ln w="25400">
            <a:solidFill>
              <a:srgbClr val="D4501E"/>
            </a:solidFill>
            <a:prstDash val="solid"/>
            <a:tailEnd type="arrow"/>
          </a:ln>
        </p:spPr>
      </p:sp>
      <p:sp>
        <p:nvSpPr>
          <p:cNvPr id="8" name="Text 6"/>
          <p:cNvSpPr/>
          <p:nvPr/>
        </p:nvSpPr>
        <p:spPr>
          <a:xfrm>
            <a:off x="4297680" y="1463040"/>
            <a:ext cx="731520" cy="731520"/>
          </a:xfrm>
          <a:prstGeom prst="ellipse">
            <a:avLst/>
          </a:prstGeom>
          <a:solidFill>
            <a:srgbClr val="D450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7472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Failover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8346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Traffic automatically redirected to secondary region (ap-east-2)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828800"/>
            <a:ext cx="274320" cy="0"/>
          </a:xfrm>
          <a:prstGeom prst="line">
            <a:avLst/>
          </a:prstGeom>
          <a:noFill/>
          <a:ln w="25400">
            <a:solidFill>
              <a:srgbClr val="D4501E"/>
            </a:solidFill>
            <a:prstDash val="solid"/>
            <a:tailEnd type="arrow"/>
          </a:ln>
        </p:spPr>
      </p:sp>
      <p:sp>
        <p:nvSpPr>
          <p:cNvPr id="12" name="Text 10"/>
          <p:cNvSpPr/>
          <p:nvPr/>
        </p:nvSpPr>
        <p:spPr>
          <a:xfrm>
            <a:off x="7132320" y="1463040"/>
            <a:ext cx="731520" cy="731520"/>
          </a:xfrm>
          <a:prstGeom prst="ellipse">
            <a:avLst/>
          </a:prstGeom>
          <a:solidFill>
            <a:srgbClr val="D450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0936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Recover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28346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DynamoDB Global Tables ensure data consistency, RPO ~ seconds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RPO ≈ seconds (async replication)  |  RTO &lt; 60s  |  Active-Passive with automatic failover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Slasher Survivors  · 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D4501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Next Steps &amp; Discussion</a:t>
            </a:r>
            <a:endParaRPr lang="en-US" sz="3200" dirty="0"/>
          </a:p>
        </p:txBody>
      </p:sp>
      <p:pic>
        <p:nvPicPr>
          <p:cNvPr id="4" name="Image 0" descr="icon_s8_0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6459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Walkthrough of game + backend in action</a:t>
            </a:r>
            <a:endParaRPr lang="en-US" sz="1100" dirty="0"/>
          </a:p>
        </p:txBody>
      </p:sp>
      <p:pic>
        <p:nvPicPr>
          <p:cNvPr id="7" name="Image 1" descr="icon_s8_1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4688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CDK Review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11480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Infrastructure deployment walkthrough</a:t>
            </a:r>
            <a:endParaRPr lang="en-US" sz="1100" dirty="0"/>
          </a:p>
        </p:txBody>
      </p:sp>
      <p:pic>
        <p:nvPicPr>
          <p:cNvPr id="10" name="Image 2" descr="icon_s8_2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32918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Performance Test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411480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Cross-region latency validation</a:t>
            </a:r>
            <a:endParaRPr lang="en-US" sz="1100" dirty="0"/>
          </a:p>
        </p:txBody>
      </p:sp>
      <p:pic>
        <p:nvPicPr>
          <p:cNvPr id="13" name="Image 3" descr="icon_s8_3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520" y="411480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Darker Grotesque" pitchFamily="34" charset="0"/>
                <a:ea typeface="Darker Grotesque" pitchFamily="34" charset="-122"/>
                <a:cs typeface="Darker Grotesque" pitchFamily="34" charset="-120"/>
              </a:rPr>
              <a:t>Cost Optimization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411480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Right-sizing and reserved capacity planning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501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Thank you —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Slasher Survivors - AWS Multi-Region Architecture</dc:title>
  <dc:subject>PptxGenJS Presentation</dc:subject>
  <dc:creator>Paul Lu</dc:creator>
  <cp:lastModifiedBy>Paul Lu</cp:lastModifiedBy>
  <cp:revision>1</cp:revision>
  <dcterms:created xsi:type="dcterms:W3CDTF">2026-06-12T00:06:14Z</dcterms:created>
  <dcterms:modified xsi:type="dcterms:W3CDTF">2026-06-12T00:06:14Z</dcterms:modified>
</cp:coreProperties>
</file>